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8" r:id="rId5"/>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1" d="100"/>
          <a:sy n="41" d="100"/>
        </p:scale>
        <p:origin x="2718"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a:p>
        </p:txBody>
      </p:sp>
      <p:sp>
        <p:nvSpPr>
          <p:cNvPr id="4" name="Date Placeholder 3"/>
          <p:cNvSpPr>
            <a:spLocks noGrp="1"/>
          </p:cNvSpPr>
          <p:nvPr>
            <p:ph type="dt" sz="half" idx="10"/>
          </p:nvPr>
        </p:nvSpPr>
        <p:spPr/>
        <p:txBody>
          <a:bodyPr/>
          <a:lstStyle/>
          <a:p>
            <a:fld id="{A8DA1BBD-1589-104E-89D9-FD291A5EDB06}" type="datetimeFigureOut">
              <a:rPr lang="es-ES_tradnl" smtClean="0"/>
              <a:t>20/12/2025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8DA1BBD-1589-104E-89D9-FD291A5EDB06}" type="datetimeFigureOut">
              <a:rPr lang="es-ES_tradnl" smtClean="0"/>
              <a:t>20/12/2025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20/12/2025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A8DA1BBD-1589-104E-89D9-FD291A5EDB06}" type="datetimeFigureOut">
              <a:rPr lang="es-ES_tradnl" smtClean="0"/>
              <a:t>20/12/2025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A8DA1BBD-1589-104E-89D9-FD291A5EDB06}" type="datetimeFigureOut">
              <a:rPr lang="es-ES_tradnl" smtClean="0"/>
              <a:t>20/12/2025</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A8DA1BBD-1589-104E-89D9-FD291A5EDB06}" type="datetimeFigureOut">
              <a:rPr lang="es-ES_tradnl" smtClean="0"/>
              <a:t>20/12/2025</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20/12/2025</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20/12/2025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20/12/2025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8DA1BBD-1589-104E-89D9-FD291A5EDB06}" type="datetimeFigureOut">
              <a:rPr lang="es-ES_tradnl" smtClean="0"/>
              <a:t>20/12/2025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8DA1BBD-1589-104E-89D9-FD291A5EDB06}" type="datetimeFigureOut">
              <a:rPr lang="es-ES_tradnl" smtClean="0"/>
              <a:t>20/12/2025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20/12/2025</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41350" y="3249681"/>
            <a:ext cx="14652820" cy="1545180"/>
            <a:chOff x="241350" y="4066204"/>
            <a:chExt cx="14652820" cy="1431813"/>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41350" y="4336644"/>
              <a:ext cx="14652820" cy="1161373"/>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360000" rIns="91440" bIns="45720" rtlCol="0" anchor="t"/>
            <a:lstStyle/>
            <a:p>
              <a:pPr algn="just">
                <a:lnSpc>
                  <a:spcPct val="80000"/>
                </a:lnSpc>
              </a:pPr>
              <a:r>
                <a:rPr lang="es-ES_tradnl" dirty="0">
                  <a:solidFill>
                    <a:schemeClr val="tx1"/>
                  </a:solidFill>
                </a:rPr>
                <a:t>La obesidad, cuya prevalencia ha aumentado significativamente en los últimos años, está asociada con un aumento de la mortalidad y de la incidencia de otras enfermedades. La obesidad se asocia con cambios epigéneticos, metabólicos y la activación de la respuesta inflamatoria que puede alterar el patrón de expresión génica. El objetivo de este estudio es investigar la expresión de 37 genes asociados con la obesidad en individuos obesos y </a:t>
              </a:r>
              <a:r>
                <a:rPr lang="es-ES_tradnl" dirty="0" err="1">
                  <a:solidFill>
                    <a:schemeClr val="tx1"/>
                  </a:solidFill>
                </a:rPr>
                <a:t>normopesos</a:t>
              </a:r>
              <a:r>
                <a:rPr lang="es-ES_tradnl" dirty="0">
                  <a:solidFill>
                    <a:schemeClr val="tx1"/>
                  </a:solidFill>
                </a:rPr>
                <a:t>.</a:t>
              </a:r>
              <a:endParaRPr lang="es-ES_tradnl" sz="2400"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4066204"/>
              <a:ext cx="5838092" cy="555939"/>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36449" y="5093414"/>
            <a:ext cx="14656307" cy="2065856"/>
            <a:chOff x="207596" y="5664741"/>
            <a:chExt cx="14685192" cy="2096208"/>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5928127"/>
              <a:ext cx="14685192" cy="1832822"/>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360000" rIns="91440" bIns="45720" rtlCol="0" anchor="t"/>
            <a:lstStyle/>
            <a:p>
              <a:pPr algn="just">
                <a:lnSpc>
                  <a:spcPct val="80000"/>
                </a:lnSpc>
              </a:pPr>
              <a:r>
                <a:rPr lang="es-ES_tradnl" dirty="0">
                  <a:solidFill>
                    <a:schemeClr val="tx1"/>
                  </a:solidFill>
                  <a:ea typeface="+mn-lt"/>
                  <a:cs typeface="+mn-lt"/>
                </a:rPr>
                <a:t>Se procesaron datos de RNA-</a:t>
              </a:r>
              <a:r>
                <a:rPr lang="es-ES_tradnl" dirty="0" err="1">
                  <a:solidFill>
                    <a:schemeClr val="tx1"/>
                  </a:solidFill>
                  <a:ea typeface="+mn-lt"/>
                  <a:cs typeface="+mn-lt"/>
                </a:rPr>
                <a:t>seq</a:t>
              </a:r>
              <a:r>
                <a:rPr lang="es-ES_tradnl" dirty="0">
                  <a:solidFill>
                    <a:schemeClr val="tx1"/>
                  </a:solidFill>
                  <a:ea typeface="+mn-lt"/>
                  <a:cs typeface="+mn-lt"/>
                </a:rPr>
                <a:t> realizando control de calidad con </a:t>
              </a:r>
              <a:r>
                <a:rPr lang="es-ES_tradnl" dirty="0" err="1">
                  <a:solidFill>
                    <a:schemeClr val="tx1"/>
                  </a:solidFill>
                  <a:ea typeface="+mn-lt"/>
                  <a:cs typeface="+mn-lt"/>
                </a:rPr>
                <a:t>FastQC</a:t>
              </a:r>
              <a:r>
                <a:rPr lang="es-ES_tradnl" dirty="0">
                  <a:solidFill>
                    <a:schemeClr val="tx1"/>
                  </a:solidFill>
                  <a:ea typeface="+mn-lt"/>
                  <a:cs typeface="+mn-lt"/>
                </a:rPr>
                <a:t>, filtrado mediante </a:t>
              </a:r>
              <a:r>
                <a:rPr lang="es-ES_tradnl" dirty="0" err="1">
                  <a:solidFill>
                    <a:schemeClr val="tx1"/>
                  </a:solidFill>
                  <a:ea typeface="+mn-lt"/>
                  <a:cs typeface="+mn-lt"/>
                </a:rPr>
                <a:t>fastp</a:t>
              </a:r>
              <a:r>
                <a:rPr lang="es-ES_tradnl" dirty="0">
                  <a:solidFill>
                    <a:schemeClr val="tx1"/>
                  </a:solidFill>
                  <a:ea typeface="+mn-lt"/>
                  <a:cs typeface="+mn-lt"/>
                </a:rPr>
                <a:t> y cuantificación de la expresión génica utilizando Salmon.</a:t>
              </a:r>
              <a:r>
                <a:rPr lang="es-ES_tradnl" dirty="0">
                  <a:solidFill>
                    <a:schemeClr val="tx1"/>
                  </a:solidFill>
                </a:rPr>
                <a:t> Dado que la correlación entre la condición (obeso vs. control) y la edad es elevada (r = 0.896), existe una colinealidad severa asociada a la variable edad y por lo tanto se optó no usarla en el diseño. Para la determinación de genes significativamente desregulados entre grupos se ha aplicado un umbral de valor p &lt;0.05 y de log2FC &gt;1 o &lt;-1 (</a:t>
              </a:r>
              <a:r>
                <a:rPr lang="es-ES_tradnl" dirty="0" err="1">
                  <a:solidFill>
                    <a:schemeClr val="tx1"/>
                  </a:solidFill>
                </a:rPr>
                <a:t>Volcano</a:t>
              </a:r>
              <a:r>
                <a:rPr lang="es-ES_tradnl" dirty="0">
                  <a:solidFill>
                    <a:schemeClr val="tx1"/>
                  </a:solidFill>
                </a:rPr>
                <a:t> </a:t>
              </a:r>
              <a:r>
                <a:rPr lang="es-ES_tradnl" dirty="0" err="1">
                  <a:solidFill>
                    <a:schemeClr val="tx1"/>
                  </a:solidFill>
                </a:rPr>
                <a:t>plots</a:t>
              </a:r>
              <a:r>
                <a:rPr lang="es-ES_tradnl" dirty="0">
                  <a:solidFill>
                    <a:schemeClr val="tx1"/>
                  </a:solidFill>
                </a:rPr>
                <a:t> y </a:t>
              </a:r>
              <a:r>
                <a:rPr lang="es-ES_tradnl" dirty="0" err="1">
                  <a:solidFill>
                    <a:schemeClr val="tx1"/>
                  </a:solidFill>
                </a:rPr>
                <a:t>Complex</a:t>
              </a:r>
              <a:r>
                <a:rPr lang="es-ES_tradnl" dirty="0">
                  <a:solidFill>
                    <a:schemeClr val="tx1"/>
                  </a:solidFill>
                </a:rPr>
                <a:t> </a:t>
              </a:r>
              <a:r>
                <a:rPr lang="es-ES_tradnl" dirty="0" err="1">
                  <a:solidFill>
                    <a:schemeClr val="tx1"/>
                  </a:solidFill>
                </a:rPr>
                <a:t>Heatmap</a:t>
              </a:r>
              <a:r>
                <a:rPr lang="es-ES_tradnl" dirty="0">
                  <a:solidFill>
                    <a:schemeClr val="tx1"/>
                  </a:solidFill>
                </a:rPr>
                <a:t>) o de log2FC &gt;0.25 o &lt;-0.25 (</a:t>
              </a:r>
              <a:r>
                <a:rPr lang="es-ES_tradnl" dirty="0" err="1">
                  <a:solidFill>
                    <a:schemeClr val="tx1"/>
                  </a:solidFill>
                </a:rPr>
                <a:t>Heatmap</a:t>
              </a:r>
              <a:r>
                <a:rPr lang="es-ES_tradnl" dirty="0">
                  <a:solidFill>
                    <a:schemeClr val="tx1"/>
                  </a:solidFill>
                </a:rPr>
                <a:t>). Para el enriquecimiento de vías, se han reducido notablemente los umbrales de valor p ajustado con el fin de identificar posibles asociaciones funcionales (ver pies de figura).</a:t>
              </a: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488464" y="5664741"/>
              <a:ext cx="5837587" cy="580788"/>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30176" y="7301357"/>
            <a:ext cx="14674644" cy="9864528"/>
            <a:chOff x="275166" y="8287209"/>
            <a:chExt cx="14674644" cy="9864528"/>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75166" y="8537912"/>
              <a:ext cx="14674644" cy="9613825"/>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360000" rIns="91440" bIns="45720" rtlCol="0" anchor="t"/>
            <a:lstStyle/>
            <a:p>
              <a:pPr algn="r">
                <a:lnSpc>
                  <a:spcPct val="80000"/>
                </a:lnSpc>
              </a:pPr>
              <a:endParaRPr lang="es-ES_tradnl" i="1">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75965" y="8287209"/>
              <a:ext cx="5783872" cy="556877"/>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ES_tradnl" sz="2800" b="1"/>
                <a:t>RESULTADOS</a:t>
              </a:r>
              <a:endParaRPr lang="es-ES"/>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2982807" cy="1978033"/>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141104"/>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144000" rIns="2016000" bIns="180000" rtlCol="0" anchor="ctr"/>
          <a:lstStyle/>
          <a:p>
            <a:pPr algn="ctr"/>
            <a:r>
              <a:rPr lang="es-ES_tradnl" sz="4000" b="1">
                <a:solidFill>
                  <a:schemeClr val="bg1"/>
                </a:solidFill>
              </a:rPr>
              <a:t>Análisis de expresión diferencial de genes relacionados con la obesidad mediante RNA-</a:t>
            </a:r>
            <a:r>
              <a:rPr lang="es-ES_tradnl" sz="4000" b="1" err="1">
                <a:solidFill>
                  <a:schemeClr val="bg1"/>
                </a:solidFill>
              </a:rPr>
              <a:t>seq</a:t>
            </a:r>
            <a:endParaRPr lang="es-ES" sz="4000"/>
          </a:p>
          <a:p>
            <a:pPr algn="ctr"/>
            <a:r>
              <a:rPr lang="es-ES_tradnl" sz="2800" b="1" i="1">
                <a:solidFill>
                  <a:schemeClr val="bg1"/>
                </a:solidFill>
              </a:rPr>
              <a:t>Secuenciación y </a:t>
            </a:r>
            <a:r>
              <a:rPr lang="es-ES_tradnl" sz="2800" b="1" i="1" err="1">
                <a:solidFill>
                  <a:schemeClr val="bg1"/>
                </a:solidFill>
              </a:rPr>
              <a:t>Ómicas</a:t>
            </a:r>
            <a:r>
              <a:rPr lang="es-ES_tradnl" sz="2800" b="1" i="1">
                <a:solidFill>
                  <a:schemeClr val="bg1"/>
                </a:solidFill>
              </a:rPr>
              <a:t> de Próxima Generación</a:t>
            </a:r>
          </a:p>
          <a:p>
            <a:pPr algn="ctr">
              <a:lnSpc>
                <a:spcPct val="80000"/>
              </a:lnSpc>
            </a:pPr>
            <a:r>
              <a:rPr lang="es-ES_tradnl" sz="1600" b="1" i="1">
                <a:solidFill>
                  <a:schemeClr val="bg1"/>
                </a:solidFill>
              </a:rPr>
              <a:t>Melissa </a:t>
            </a:r>
            <a:r>
              <a:rPr lang="es-ES_tradnl" sz="1600" b="1" i="1" err="1">
                <a:solidFill>
                  <a:schemeClr val="bg1"/>
                </a:solidFill>
              </a:rPr>
              <a:t>Ndombasi</a:t>
            </a:r>
            <a:r>
              <a:rPr lang="es-ES_tradnl" sz="1600" b="1" i="1">
                <a:solidFill>
                  <a:schemeClr val="bg1"/>
                </a:solidFill>
              </a:rPr>
              <a:t> </a:t>
            </a:r>
            <a:r>
              <a:rPr lang="es-ES_tradnl" sz="1600" b="1" i="1" err="1">
                <a:solidFill>
                  <a:schemeClr val="bg1"/>
                </a:solidFill>
              </a:rPr>
              <a:t>Bokuy</a:t>
            </a:r>
            <a:r>
              <a:rPr lang="es-ES_tradnl" sz="1600" b="1" i="1">
                <a:solidFill>
                  <a:schemeClr val="bg1"/>
                </a:solidFill>
                <a:ea typeface="+mn-lt"/>
                <a:cs typeface="+mn-lt"/>
              </a:rPr>
              <a:t>, Viktor Porvaznik, </a:t>
            </a:r>
            <a:r>
              <a:rPr lang="es-ES_tradnl" sz="1600" b="1" i="1" err="1">
                <a:solidFill>
                  <a:schemeClr val="bg1"/>
                </a:solidFill>
                <a:ea typeface="+mn-lt"/>
                <a:cs typeface="+mn-lt"/>
              </a:rPr>
              <a:t>Jose</a:t>
            </a:r>
            <a:r>
              <a:rPr lang="es-ES_tradnl" sz="1600" b="1" i="1">
                <a:solidFill>
                  <a:schemeClr val="bg1"/>
                </a:solidFill>
                <a:ea typeface="+mn-lt"/>
                <a:cs typeface="+mn-lt"/>
              </a:rPr>
              <a:t> Iglesias </a:t>
            </a:r>
            <a:r>
              <a:rPr lang="es-ES_tradnl" sz="1600" b="1" i="1" err="1">
                <a:solidFill>
                  <a:schemeClr val="bg1"/>
                </a:solidFill>
                <a:ea typeface="+mn-lt"/>
                <a:cs typeface="+mn-lt"/>
              </a:rPr>
              <a:t>Moure</a:t>
            </a:r>
            <a:r>
              <a:rPr lang="es-ES_tradnl" sz="1600" b="1" i="1">
                <a:solidFill>
                  <a:schemeClr val="bg1"/>
                </a:solidFill>
                <a:ea typeface="+mn-lt"/>
                <a:cs typeface="+mn-lt"/>
              </a:rPr>
              <a:t>, Lydia </a:t>
            </a:r>
            <a:r>
              <a:rPr lang="es-ES_tradnl" sz="1600" b="1" i="1" err="1">
                <a:solidFill>
                  <a:schemeClr val="bg1"/>
                </a:solidFill>
                <a:ea typeface="+mn-lt"/>
                <a:cs typeface="+mn-lt"/>
              </a:rPr>
              <a:t>Alvarez</a:t>
            </a:r>
            <a:r>
              <a:rPr lang="es-ES_tradnl" sz="1600" b="1" i="1">
                <a:solidFill>
                  <a:schemeClr val="bg1"/>
                </a:solidFill>
                <a:ea typeface="+mn-lt"/>
                <a:cs typeface="+mn-lt"/>
              </a:rPr>
              <a:t> Erviti, </a:t>
            </a:r>
            <a:r>
              <a:rPr lang="es-ES_tradnl" sz="1600" b="1" i="1" err="1">
                <a:solidFill>
                  <a:schemeClr val="bg1"/>
                </a:solidFill>
                <a:ea typeface="+mn-lt"/>
                <a:cs typeface="+mn-lt"/>
              </a:rPr>
              <a:t>Maria</a:t>
            </a:r>
            <a:r>
              <a:rPr lang="es-ES_tradnl" sz="1600" b="1" i="1">
                <a:solidFill>
                  <a:schemeClr val="bg1"/>
                </a:solidFill>
                <a:ea typeface="+mn-lt"/>
                <a:cs typeface="+mn-lt"/>
              </a:rPr>
              <a:t> del Mar </a:t>
            </a:r>
            <a:r>
              <a:rPr lang="es-ES_tradnl" sz="1600" b="1" i="1" err="1">
                <a:solidFill>
                  <a:schemeClr val="bg1"/>
                </a:solidFill>
                <a:ea typeface="+mn-lt"/>
                <a:cs typeface="+mn-lt"/>
              </a:rPr>
              <a:t>Rodriguez</a:t>
            </a:r>
            <a:r>
              <a:rPr lang="es-ES_tradnl" sz="1600" b="1" i="1">
                <a:solidFill>
                  <a:schemeClr val="bg1"/>
                </a:solidFill>
                <a:ea typeface="+mn-lt"/>
                <a:cs typeface="+mn-lt"/>
              </a:rPr>
              <a:t> Ruiz</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7303689"/>
            <a:ext cx="9095800" cy="3844742"/>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360000" rIns="91440" bIns="45720" rtlCol="0" anchor="t"/>
            <a:lstStyle/>
            <a:p>
              <a:pPr algn="just">
                <a:lnSpc>
                  <a:spcPct val="80000"/>
                </a:lnSpc>
              </a:pPr>
              <a:r>
                <a:rPr lang="es-ES_tradnl" noProof="0" dirty="0">
                  <a:solidFill>
                    <a:schemeClr val="tx1"/>
                  </a:solidFill>
                  <a:ea typeface="+mn-lt"/>
                  <a:cs typeface="+mn-lt"/>
                </a:rPr>
                <a:t>El análisis de expresión diferencial revela un perfil </a:t>
              </a:r>
              <a:r>
                <a:rPr lang="es-ES_tradnl" noProof="0" dirty="0" err="1">
                  <a:solidFill>
                    <a:schemeClr val="tx1"/>
                  </a:solidFill>
                  <a:ea typeface="+mn-lt"/>
                  <a:cs typeface="+mn-lt"/>
                </a:rPr>
                <a:t>transcriptómico</a:t>
              </a:r>
              <a:r>
                <a:rPr lang="es-ES_tradnl" noProof="0" dirty="0">
                  <a:solidFill>
                    <a:schemeClr val="tx1"/>
                  </a:solidFill>
                  <a:ea typeface="+mn-lt"/>
                  <a:cs typeface="+mn-lt"/>
                </a:rPr>
                <a:t> coherente con las alteraciones metabólicas y neurobiológicas asociadas a la obesidad, identificando tres genes significativamente diferencialmente expresados entre individuos </a:t>
              </a:r>
              <a:r>
                <a:rPr lang="es-ES_tradnl" noProof="0" dirty="0" err="1">
                  <a:solidFill>
                    <a:schemeClr val="tx1"/>
                  </a:solidFill>
                  <a:ea typeface="+mn-lt"/>
                  <a:cs typeface="+mn-lt"/>
                </a:rPr>
                <a:t>normopeso</a:t>
              </a:r>
              <a:r>
                <a:rPr lang="es-ES_tradnl" noProof="0" dirty="0">
                  <a:solidFill>
                    <a:schemeClr val="tx1"/>
                  </a:solidFill>
                  <a:ea typeface="+mn-lt"/>
                  <a:cs typeface="+mn-lt"/>
                </a:rPr>
                <a:t> y obesos: </a:t>
              </a:r>
              <a:r>
                <a:rPr lang="es-ES_tradnl" i="1" noProof="0" dirty="0">
                  <a:solidFill>
                    <a:schemeClr val="tx1"/>
                  </a:solidFill>
                  <a:ea typeface="+mn-lt"/>
                  <a:cs typeface="+mn-lt"/>
                </a:rPr>
                <a:t>NTRK2 </a:t>
              </a:r>
              <a:r>
                <a:rPr lang="es-ES_tradnl" noProof="0" dirty="0">
                  <a:solidFill>
                    <a:schemeClr val="tx1"/>
                  </a:solidFill>
                  <a:ea typeface="+mn-lt"/>
                  <a:cs typeface="+mn-lt"/>
                </a:rPr>
                <a:t>y </a:t>
              </a:r>
              <a:r>
                <a:rPr lang="es-ES_tradnl" i="1" noProof="0" dirty="0">
                  <a:solidFill>
                    <a:schemeClr val="tx1"/>
                  </a:solidFill>
                  <a:ea typeface="+mn-lt"/>
                  <a:cs typeface="+mn-lt"/>
                </a:rPr>
                <a:t>LEP </a:t>
              </a:r>
              <a:r>
                <a:rPr lang="es-ES_tradnl" noProof="0" dirty="0">
                  <a:solidFill>
                    <a:schemeClr val="tx1"/>
                  </a:solidFill>
                  <a:ea typeface="+mn-lt"/>
                  <a:cs typeface="+mn-lt"/>
                </a:rPr>
                <a:t>(</a:t>
              </a:r>
              <a:r>
                <a:rPr lang="es-ES_tradnl" noProof="0" dirty="0" err="1">
                  <a:solidFill>
                    <a:schemeClr val="tx1"/>
                  </a:solidFill>
                  <a:ea typeface="+mn-lt"/>
                  <a:cs typeface="+mn-lt"/>
                </a:rPr>
                <a:t>down</a:t>
              </a:r>
              <a:r>
                <a:rPr lang="es-ES_tradnl" noProof="0" dirty="0">
                  <a:solidFill>
                    <a:schemeClr val="tx1"/>
                  </a:solidFill>
                  <a:ea typeface="+mn-lt"/>
                  <a:cs typeface="+mn-lt"/>
                </a:rPr>
                <a:t>-regulados en obesidad) y </a:t>
              </a:r>
              <a:r>
                <a:rPr lang="es-ES_tradnl" i="1" noProof="0" dirty="0">
                  <a:solidFill>
                    <a:schemeClr val="tx1"/>
                  </a:solidFill>
                  <a:ea typeface="+mn-lt"/>
                  <a:cs typeface="+mn-lt"/>
                </a:rPr>
                <a:t>LEPR </a:t>
              </a:r>
              <a:r>
                <a:rPr lang="es-ES_tradnl" noProof="0" dirty="0">
                  <a:solidFill>
                    <a:schemeClr val="tx1"/>
                  </a:solidFill>
                  <a:ea typeface="+mn-lt"/>
                  <a:cs typeface="+mn-lt"/>
                </a:rPr>
                <a:t>(up-regulado en obesidad).</a:t>
              </a:r>
            </a:p>
            <a:p>
              <a:pPr algn="just">
                <a:lnSpc>
                  <a:spcPct val="80000"/>
                </a:lnSpc>
              </a:pPr>
              <a:endParaRPr lang="es-ES_tradnl" noProof="0" dirty="0">
                <a:solidFill>
                  <a:schemeClr val="tx1"/>
                </a:solidFill>
                <a:ea typeface="+mn-lt"/>
                <a:cs typeface="+mn-lt"/>
              </a:endParaRPr>
            </a:p>
            <a:p>
              <a:pPr algn="just">
                <a:lnSpc>
                  <a:spcPct val="80000"/>
                </a:lnSpc>
              </a:pPr>
              <a:r>
                <a:rPr lang="es-ES_tradnl" noProof="0" dirty="0">
                  <a:solidFill>
                    <a:schemeClr val="tx1"/>
                  </a:solidFill>
                  <a:ea typeface="+mn-lt"/>
                  <a:cs typeface="+mn-lt"/>
                </a:rPr>
                <a:t>La LEP (leptina), secretada por el tejido adiposo, actúa como señal de saciedad, informando sobre el estado energético del organismo. El aumento de LEPR (receptor de leptina) en obesidad sugiere resistencia a la leptina, caracterizada por la disminución de sensibilidad a la hormona en tejidos diana, especialmente en el hipotálamo. Por otro lado, la disminución de NTRK2 (</a:t>
              </a:r>
              <a:r>
                <a:rPr lang="es-ES_tradnl" noProof="0" dirty="0" err="1">
                  <a:solidFill>
                    <a:schemeClr val="tx1"/>
                  </a:solidFill>
                  <a:ea typeface="+mn-lt"/>
                  <a:cs typeface="+mn-lt"/>
                </a:rPr>
                <a:t>TrkB</a:t>
              </a:r>
              <a:r>
                <a:rPr lang="es-ES_tradnl" noProof="0" dirty="0">
                  <a:solidFill>
                    <a:schemeClr val="tx1"/>
                  </a:solidFill>
                  <a:ea typeface="+mn-lt"/>
                  <a:cs typeface="+mn-lt"/>
                </a:rPr>
                <a:t>) podría contribuir a la resistencia a la leptina al comprometer la vía de señalización BDNF-</a:t>
              </a:r>
              <a:r>
                <a:rPr lang="es-ES_tradnl" noProof="0" dirty="0" err="1">
                  <a:solidFill>
                    <a:schemeClr val="tx1"/>
                  </a:solidFill>
                  <a:ea typeface="+mn-lt"/>
                  <a:cs typeface="+mn-lt"/>
                </a:rPr>
                <a:t>TrkB</a:t>
              </a:r>
              <a:r>
                <a:rPr lang="es-ES_tradnl" noProof="0" dirty="0">
                  <a:solidFill>
                    <a:schemeClr val="tx1"/>
                  </a:solidFill>
                  <a:ea typeface="+mn-lt"/>
                  <a:cs typeface="+mn-lt"/>
                </a:rPr>
                <a:t>, lo cual a su vez deteriora la capacidad del sistema nervioso central para responder apropiadamente a las señales de saciedad y mantener el balance energético.</a:t>
              </a:r>
              <a:endParaRPr lang="es-ES_tradnl" noProof="0" dirty="0">
                <a:solidFill>
                  <a:schemeClr val="tx1"/>
                </a:solidFill>
              </a:endParaRPr>
            </a:p>
            <a:p>
              <a:pPr algn="just">
                <a:lnSpc>
                  <a:spcPct val="80000"/>
                </a:lnSpc>
              </a:pPr>
              <a:endParaRPr lang="es-ES_tradnl" i="1" noProof="0" dirty="0">
                <a:solidFill>
                  <a:schemeClr val="tx1"/>
                </a:solidFill>
              </a:endParaRP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7303689"/>
            <a:ext cx="5366712" cy="3844742"/>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360000" rIns="91440" bIns="45720" rtlCol="0" anchor="t"/>
            <a:lstStyle/>
            <a:p>
              <a:pPr algn="just">
                <a:lnSpc>
                  <a:spcPct val="80000"/>
                </a:lnSpc>
              </a:pPr>
              <a:r>
                <a:rPr lang="es-ES_tradnl" dirty="0">
                  <a:solidFill>
                    <a:schemeClr val="tx1"/>
                  </a:solidFill>
                </a:rPr>
                <a:t>Este estudio sugiere una desregulación coordinada de la señalización LEP-BDNF-</a:t>
              </a:r>
              <a:r>
                <a:rPr lang="es-ES_tradnl" dirty="0" err="1">
                  <a:solidFill>
                    <a:schemeClr val="tx1"/>
                  </a:solidFill>
                </a:rPr>
                <a:t>TrkB</a:t>
              </a:r>
              <a:r>
                <a:rPr lang="es-ES_tradnl" dirty="0">
                  <a:solidFill>
                    <a:schemeClr val="tx1"/>
                  </a:solidFill>
                </a:rPr>
                <a:t> en obesidad, donde la regulación compensatoria del LEPR coexiste con la disminución de componentes clave de sus vías efectoras </a:t>
              </a:r>
              <a:r>
                <a:rPr lang="es-ES_tradnl" dirty="0" err="1">
                  <a:solidFill>
                    <a:schemeClr val="tx1"/>
                  </a:solidFill>
                </a:rPr>
                <a:t>downstream</a:t>
              </a:r>
              <a:r>
                <a:rPr lang="es-ES_tradnl" dirty="0">
                  <a:solidFill>
                    <a:schemeClr val="tx1"/>
                  </a:solidFill>
                </a:rPr>
                <a:t> (</a:t>
              </a:r>
              <a:r>
                <a:rPr lang="es-ES_tradnl" dirty="0" err="1">
                  <a:solidFill>
                    <a:schemeClr val="tx1"/>
                  </a:solidFill>
                </a:rPr>
                <a:t>TrkB</a:t>
              </a:r>
              <a:r>
                <a:rPr lang="es-ES_tradnl" dirty="0">
                  <a:solidFill>
                    <a:schemeClr val="tx1"/>
                  </a:solidFill>
                </a:rPr>
                <a:t>), contribuyendo así a la resistencia a leptina y al mantenimiento del fenotipo obeso. </a:t>
              </a:r>
              <a:r>
                <a:rPr lang="es-ES_tradnl" dirty="0">
                  <a:solidFill>
                    <a:schemeClr val="tx1"/>
                  </a:solidFill>
                  <a:ea typeface="+mn-lt"/>
                  <a:cs typeface="+mn-lt"/>
                </a:rPr>
                <a:t>No obstante, los</a:t>
              </a:r>
              <a:r>
                <a:rPr lang="es-ES_tradnl" dirty="0">
                  <a:solidFill>
                    <a:schemeClr val="tx1"/>
                  </a:solidFill>
                </a:rPr>
                <a:t> resultados presentan diversas limitaciones relacionadas con el reducido número de genes y muestras analizadas, la diferencia de edad de los miembros de ambos grupos y la relación familiar de los mismos. Todos estos factores pueden afectar a los resultados obtenidos. </a:t>
              </a:r>
              <a:endParaRPr lang="es-ES_tradnl" sz="2400" dirty="0">
                <a:solidFill>
                  <a:schemeClr val="tx1"/>
                </a:solidFill>
              </a:endParaRPr>
            </a:p>
            <a:p>
              <a:pPr algn="just">
                <a:lnSpc>
                  <a:spcPct val="80000"/>
                </a:lnSpc>
              </a:pPr>
              <a:endParaRPr lang="es-ES_tradnl"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CONCLUSIONES</a:t>
              </a:r>
            </a:p>
          </p:txBody>
        </p:sp>
      </p:grpSp>
      <p:sp>
        <p:nvSpPr>
          <p:cNvPr id="39" name="Rectángulo redondeado 38">
            <a:extLst>
              <a:ext uri="{FF2B5EF4-FFF2-40B4-BE49-F238E27FC236}">
                <a16:creationId xmlns:a16="http://schemas.microsoft.com/office/drawing/2014/main" id="{05ACB882-C17A-7163-5754-50C1DB29AA22}"/>
              </a:ext>
            </a:extLst>
          </p:cNvPr>
          <p:cNvSpPr/>
          <p:nvPr/>
        </p:nvSpPr>
        <p:spPr>
          <a:xfrm>
            <a:off x="328248" y="11021343"/>
            <a:ext cx="14161727" cy="7853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just">
              <a:lnSpc>
                <a:spcPct val="80000"/>
              </a:lnSpc>
              <a:defRPr/>
            </a:pPr>
            <a:r>
              <a:rPr kumimoji="0" lang="es-ES_tradnl" sz="1800" b="1" i="0" u="none" strike="noStrike" kern="1200" cap="none" spc="0" normalizeH="0" baseline="0" noProof="0">
                <a:ln>
                  <a:noFill/>
                </a:ln>
                <a:solidFill>
                  <a:srgbClr val="4196C9"/>
                </a:solidFill>
                <a:effectLst/>
                <a:uLnTx/>
                <a:uFillTx/>
                <a:latin typeface="Aptos" panose="02110004020202020204"/>
                <a:ea typeface="+mn-ea"/>
                <a:cs typeface="+mn-cs"/>
              </a:rPr>
              <a:t>Figura 1. </a:t>
            </a:r>
            <a:r>
              <a:rPr lang="es-ES_tradnl" b="1" err="1">
                <a:solidFill>
                  <a:srgbClr val="4196C9"/>
                </a:solidFill>
                <a:latin typeface="Aptos" panose="02110004020202020204"/>
              </a:rPr>
              <a:t>Volcano</a:t>
            </a:r>
            <a:r>
              <a:rPr lang="es-ES_tradnl" b="1">
                <a:solidFill>
                  <a:srgbClr val="4196C9"/>
                </a:solidFill>
                <a:latin typeface="Aptos" panose="02110004020202020204"/>
              </a:rPr>
              <a:t> </a:t>
            </a:r>
            <a:r>
              <a:rPr lang="es-ES_tradnl" b="1" err="1">
                <a:solidFill>
                  <a:srgbClr val="4196C9"/>
                </a:solidFill>
                <a:latin typeface="Aptos" panose="02110004020202020204"/>
              </a:rPr>
              <a:t>Plots</a:t>
            </a:r>
            <a:r>
              <a:rPr lang="es-ES_tradnl">
                <a:solidFill>
                  <a:prstClr val="black"/>
                </a:solidFill>
                <a:latin typeface="Aptos" panose="02110004020202020204"/>
              </a:rPr>
              <a:t> Representación de la significación estadística frente al cambio relativo de los 37 genes analizados utilizando tres herramientas bioinformáticas (DESeq2, </a:t>
            </a:r>
            <a:r>
              <a:rPr lang="es-ES_tradnl" err="1">
                <a:solidFill>
                  <a:prstClr val="black"/>
                </a:solidFill>
                <a:latin typeface="Aptos" panose="02110004020202020204"/>
              </a:rPr>
              <a:t>edgeR</a:t>
            </a:r>
            <a:r>
              <a:rPr lang="es-ES_tradnl">
                <a:solidFill>
                  <a:prstClr val="black"/>
                </a:solidFill>
                <a:latin typeface="Aptos" panose="02110004020202020204"/>
              </a:rPr>
              <a:t> y </a:t>
            </a:r>
            <a:r>
              <a:rPr lang="es-ES_tradnl" err="1">
                <a:solidFill>
                  <a:prstClr val="black"/>
                </a:solidFill>
                <a:latin typeface="Aptos" panose="02110004020202020204"/>
              </a:rPr>
              <a:t>limma-voom</a:t>
            </a:r>
            <a:r>
              <a:rPr lang="es-ES_tradnl">
                <a:solidFill>
                  <a:prstClr val="black"/>
                </a:solidFill>
                <a:latin typeface="Aptos" panose="02110004020202020204"/>
              </a:rPr>
              <a:t>) (p-</a:t>
            </a:r>
            <a:r>
              <a:rPr lang="es-ES_tradnl" err="1">
                <a:solidFill>
                  <a:prstClr val="black"/>
                </a:solidFill>
                <a:latin typeface="Aptos" panose="02110004020202020204"/>
              </a:rPr>
              <a:t>adj</a:t>
            </a:r>
            <a:r>
              <a:rPr lang="es-ES_tradnl">
                <a:solidFill>
                  <a:prstClr val="black"/>
                </a:solidFill>
                <a:latin typeface="Aptos" panose="02110004020202020204"/>
              </a:rPr>
              <a:t> &lt; 0.05), comparando individuos obesos con </a:t>
            </a:r>
            <a:r>
              <a:rPr lang="es-ES_tradnl" err="1">
                <a:solidFill>
                  <a:prstClr val="black"/>
                </a:solidFill>
                <a:latin typeface="Aptos" panose="02110004020202020204"/>
              </a:rPr>
              <a:t>normopeso</a:t>
            </a:r>
            <a:r>
              <a:rPr lang="es-ES_tradnl">
                <a:solidFill>
                  <a:prstClr val="black"/>
                </a:solidFill>
                <a:latin typeface="Aptos" panose="02110004020202020204"/>
              </a:rPr>
              <a:t>. Se destacan los genes </a:t>
            </a:r>
            <a:r>
              <a:rPr lang="es-ES_tradnl" i="1">
                <a:solidFill>
                  <a:prstClr val="black"/>
                </a:solidFill>
                <a:latin typeface="Aptos" panose="02110004020202020204"/>
              </a:rPr>
              <a:t>LEPR </a:t>
            </a:r>
            <a:r>
              <a:rPr lang="es-ES_tradnl">
                <a:solidFill>
                  <a:prstClr val="black"/>
                </a:solidFill>
                <a:latin typeface="Aptos" panose="02110004020202020204"/>
              </a:rPr>
              <a:t>(</a:t>
            </a:r>
            <a:r>
              <a:rPr lang="es-ES_tradnl" err="1">
                <a:solidFill>
                  <a:prstClr val="black"/>
                </a:solidFill>
                <a:latin typeface="Aptos" panose="02110004020202020204"/>
              </a:rPr>
              <a:t>sobreexpresado</a:t>
            </a:r>
            <a:r>
              <a:rPr lang="es-ES_tradnl">
                <a:solidFill>
                  <a:prstClr val="black"/>
                </a:solidFill>
                <a:latin typeface="Aptos" panose="02110004020202020204"/>
              </a:rPr>
              <a:t>), </a:t>
            </a:r>
            <a:r>
              <a:rPr lang="es-ES_tradnl" i="1">
                <a:solidFill>
                  <a:prstClr val="black"/>
                </a:solidFill>
                <a:latin typeface="Aptos" panose="02110004020202020204"/>
              </a:rPr>
              <a:t>LEP</a:t>
            </a:r>
            <a:r>
              <a:rPr lang="es-ES_tradnl">
                <a:solidFill>
                  <a:prstClr val="black"/>
                </a:solidFill>
                <a:latin typeface="Aptos" panose="02110004020202020204"/>
              </a:rPr>
              <a:t> y </a:t>
            </a:r>
            <a:r>
              <a:rPr lang="es-ES_tradnl" i="1">
                <a:solidFill>
                  <a:prstClr val="black"/>
                </a:solidFill>
                <a:latin typeface="Aptos" panose="02110004020202020204"/>
              </a:rPr>
              <a:t>NTRK2 </a:t>
            </a:r>
            <a:r>
              <a:rPr lang="es-ES_tradnl">
                <a:solidFill>
                  <a:prstClr val="black"/>
                </a:solidFill>
                <a:latin typeface="Aptos" panose="02110004020202020204"/>
              </a:rPr>
              <a:t>(</a:t>
            </a:r>
            <a:r>
              <a:rPr lang="es-ES_tradnl" err="1">
                <a:solidFill>
                  <a:prstClr val="black"/>
                </a:solidFill>
                <a:latin typeface="Aptos" panose="02110004020202020204"/>
              </a:rPr>
              <a:t>subexpresados</a:t>
            </a:r>
            <a:r>
              <a:rPr lang="es-ES_tradnl">
                <a:solidFill>
                  <a:prstClr val="black"/>
                </a:solidFill>
                <a:latin typeface="Aptos" panose="02110004020202020204"/>
              </a:rPr>
              <a:t>).</a:t>
            </a:r>
            <a:endParaRPr kumimoji="0" lang="es-ES_tradnl"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0" name="Rectángulo redondeado 39">
            <a:extLst>
              <a:ext uri="{FF2B5EF4-FFF2-40B4-BE49-F238E27FC236}">
                <a16:creationId xmlns:a16="http://schemas.microsoft.com/office/drawing/2014/main" id="{3F03464F-6AD8-145A-F4F0-58880920BB73}"/>
              </a:ext>
            </a:extLst>
          </p:cNvPr>
          <p:cNvSpPr/>
          <p:nvPr/>
        </p:nvSpPr>
        <p:spPr>
          <a:xfrm>
            <a:off x="265046" y="15796064"/>
            <a:ext cx="8014349" cy="11771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just">
              <a:lnSpc>
                <a:spcPct val="80000"/>
              </a:lnSpc>
              <a:defRPr/>
            </a:pPr>
            <a:r>
              <a:rPr kumimoji="0" lang="es-ES_tradnl" sz="1800" b="1" i="0" u="none" strike="noStrike" kern="1200" cap="none" spc="0" normalizeH="0" baseline="0" noProof="0">
                <a:ln>
                  <a:noFill/>
                </a:ln>
                <a:solidFill>
                  <a:srgbClr val="4196C9"/>
                </a:solidFill>
                <a:effectLst/>
                <a:uLnTx/>
                <a:uFillTx/>
                <a:latin typeface="Aptos" panose="02110004020202020204"/>
                <a:ea typeface="+mn-ea"/>
                <a:cs typeface="+mn-cs"/>
              </a:rPr>
              <a:t>Figura 2. </a:t>
            </a:r>
            <a:r>
              <a:rPr lang="es-ES_tradnl" b="1">
                <a:solidFill>
                  <a:srgbClr val="4196C9"/>
                </a:solidFill>
                <a:latin typeface="Aptos" panose="02110004020202020204"/>
              </a:rPr>
              <a:t>(A) </a:t>
            </a:r>
            <a:r>
              <a:rPr lang="es-ES_tradnl" b="1" err="1">
                <a:solidFill>
                  <a:srgbClr val="4196C9"/>
                </a:solidFill>
                <a:latin typeface="Aptos" panose="02110004020202020204"/>
              </a:rPr>
              <a:t>Heatmap</a:t>
            </a:r>
            <a:r>
              <a:rPr lang="es-ES_tradnl">
                <a:solidFill>
                  <a:prstClr val="black"/>
                </a:solidFill>
                <a:latin typeface="Aptos" panose="02110004020202020204"/>
              </a:rPr>
              <a:t> que muestra niveles de expresión normalizados de los genes significativos en individuos obesos frente a </a:t>
            </a:r>
            <a:r>
              <a:rPr lang="es-ES_tradnl" err="1">
                <a:solidFill>
                  <a:prstClr val="black"/>
                </a:solidFill>
                <a:latin typeface="Aptos" panose="02110004020202020204"/>
              </a:rPr>
              <a:t>normopesos</a:t>
            </a:r>
            <a:r>
              <a:rPr lang="es-ES_tradnl">
                <a:solidFill>
                  <a:prstClr val="black"/>
                </a:solidFill>
                <a:latin typeface="Aptos" panose="02110004020202020204"/>
              </a:rPr>
              <a:t> </a:t>
            </a:r>
            <a:r>
              <a:rPr lang="es-ES">
                <a:solidFill>
                  <a:prstClr val="black"/>
                </a:solidFill>
                <a:latin typeface="Aptos" panose="02110004020202020204"/>
              </a:rPr>
              <a:t>(p-</a:t>
            </a:r>
            <a:r>
              <a:rPr lang="es-ES" err="1">
                <a:solidFill>
                  <a:prstClr val="black"/>
                </a:solidFill>
                <a:latin typeface="Aptos" panose="02110004020202020204"/>
              </a:rPr>
              <a:t>adj</a:t>
            </a:r>
            <a:r>
              <a:rPr lang="es-ES">
                <a:solidFill>
                  <a:prstClr val="black"/>
                </a:solidFill>
                <a:latin typeface="Aptos" panose="02110004020202020204"/>
              </a:rPr>
              <a:t> &lt; 0.05)</a:t>
            </a:r>
            <a:r>
              <a:rPr kumimoji="0" lang="es-ES_tradnl" sz="1800" b="0" i="0" u="none" strike="noStrike" kern="1200" cap="none" spc="0" normalizeH="0" baseline="0" noProof="0">
                <a:ln>
                  <a:noFill/>
                </a:ln>
                <a:solidFill>
                  <a:prstClr val="black"/>
                </a:solidFill>
                <a:effectLst/>
                <a:uLnTx/>
                <a:uFillTx/>
                <a:latin typeface="Aptos" panose="02110004020202020204"/>
                <a:ea typeface="+mn-ea"/>
                <a:cs typeface="+mn-cs"/>
              </a:rPr>
              <a:t>.</a:t>
            </a:r>
            <a:r>
              <a:rPr lang="es-ES_tradnl">
                <a:solidFill>
                  <a:prstClr val="black"/>
                </a:solidFill>
                <a:latin typeface="Aptos" panose="02110004020202020204"/>
              </a:rPr>
              <a:t> </a:t>
            </a:r>
            <a:r>
              <a:rPr lang="es-ES" b="1">
                <a:solidFill>
                  <a:srgbClr val="4196C9"/>
                </a:solidFill>
                <a:latin typeface="Aptos" panose="02110004020202020204"/>
              </a:rPr>
              <a:t>(B) </a:t>
            </a:r>
            <a:r>
              <a:rPr lang="es-ES" b="1" err="1">
                <a:solidFill>
                  <a:srgbClr val="4196C9"/>
                </a:solidFill>
                <a:latin typeface="Aptos" panose="02110004020202020204"/>
              </a:rPr>
              <a:t>Complex</a:t>
            </a:r>
            <a:r>
              <a:rPr lang="es-ES" b="1">
                <a:solidFill>
                  <a:srgbClr val="4196C9"/>
                </a:solidFill>
                <a:latin typeface="Aptos" panose="02110004020202020204"/>
              </a:rPr>
              <a:t> </a:t>
            </a:r>
            <a:r>
              <a:rPr lang="es-ES" b="1" err="1">
                <a:solidFill>
                  <a:srgbClr val="4196C9"/>
                </a:solidFill>
                <a:latin typeface="Aptos" panose="02110004020202020204"/>
              </a:rPr>
              <a:t>Heatmap</a:t>
            </a:r>
            <a:r>
              <a:rPr lang="es-ES">
                <a:solidFill>
                  <a:srgbClr val="000000"/>
                </a:solidFill>
                <a:latin typeface="Aptos" panose="02110004020202020204"/>
              </a:rPr>
              <a:t> en el que, además, se muestra la correlación con el factor sexo.</a:t>
            </a:r>
            <a:endParaRPr lang="es-ES">
              <a:solidFill>
                <a:prstClr val="black"/>
              </a:solidFill>
            </a:endParaRP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8225773" y="15774149"/>
            <a:ext cx="6595349" cy="120256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just">
              <a:lnSpc>
                <a:spcPct val="80000"/>
              </a:lnSpc>
              <a:defRPr/>
            </a:pPr>
            <a:r>
              <a:rPr kumimoji="0" lang="es-ES_tradnl" sz="1800" b="1" i="0" u="none" strike="noStrike" kern="1200" cap="none" spc="0" normalizeH="0" baseline="0" noProof="0">
                <a:ln>
                  <a:noFill/>
                </a:ln>
                <a:solidFill>
                  <a:srgbClr val="4196C9"/>
                </a:solidFill>
                <a:effectLst/>
                <a:uLnTx/>
                <a:uFillTx/>
                <a:latin typeface="Aptos" panose="02110004020202020204"/>
                <a:ea typeface="+mn-ea"/>
                <a:cs typeface="+mn-cs"/>
              </a:rPr>
              <a:t>Figura 3. </a:t>
            </a:r>
            <a:r>
              <a:rPr lang="es-ES_tradnl" b="1">
                <a:solidFill>
                  <a:srgbClr val="4196C9"/>
                </a:solidFill>
                <a:latin typeface="Aptos" panose="02110004020202020204"/>
              </a:rPr>
              <a:t>Análisis de enriquecimiento de rutas GO mediante GSEA</a:t>
            </a:r>
            <a:r>
              <a:rPr lang="es-ES_tradnl">
                <a:solidFill>
                  <a:prstClr val="black"/>
                </a:solidFill>
                <a:latin typeface="Aptos" panose="02110004020202020204"/>
              </a:rPr>
              <a:t> Dot plot de las principales </a:t>
            </a:r>
            <a:r>
              <a:rPr lang="es-ES" err="1">
                <a:solidFill>
                  <a:prstClr val="black"/>
                </a:solidFill>
                <a:latin typeface="Aptos" panose="02110004020202020204"/>
              </a:rPr>
              <a:t>ví</a:t>
            </a:r>
            <a:r>
              <a:rPr lang="es-ES_tradnl">
                <a:solidFill>
                  <a:prstClr val="black"/>
                </a:solidFill>
                <a:latin typeface="Aptos" panose="02110004020202020204"/>
              </a:rPr>
              <a:t>as de procesos biológicos identificadas. Las </a:t>
            </a:r>
            <a:r>
              <a:rPr lang="es-ES_tradnl" err="1">
                <a:solidFill>
                  <a:prstClr val="black"/>
                </a:solidFill>
                <a:latin typeface="Aptos" panose="02110004020202020204"/>
              </a:rPr>
              <a:t>categor</a:t>
            </a:r>
            <a:r>
              <a:rPr lang="es-ES">
                <a:solidFill>
                  <a:prstClr val="black"/>
                </a:solidFill>
                <a:latin typeface="Aptos" panose="02110004020202020204"/>
              </a:rPr>
              <a:t>í</a:t>
            </a:r>
            <a:r>
              <a:rPr lang="es-ES_tradnl">
                <a:solidFill>
                  <a:prstClr val="black"/>
                </a:solidFill>
                <a:latin typeface="Aptos" panose="02110004020202020204"/>
              </a:rPr>
              <a:t>as con P valor &lt; 0.75 se incluyen con fines exploratorios pese a no alcanzar el umbral de significancia </a:t>
            </a:r>
            <a:r>
              <a:rPr lang="en-GB" err="1">
                <a:solidFill>
                  <a:prstClr val="black"/>
                </a:solidFill>
                <a:latin typeface="Aptos" panose="02110004020202020204"/>
              </a:rPr>
              <a:t>estadística</a:t>
            </a:r>
            <a:r>
              <a:rPr lang="es-ES_tradnl">
                <a:solidFill>
                  <a:prstClr val="black"/>
                </a:solidFill>
                <a:latin typeface="Aptos" panose="02110004020202020204"/>
              </a:rPr>
              <a:t> en las condiciones analizadas.</a:t>
            </a:r>
            <a:endParaRPr lang="es-ES_tradnl">
              <a:solidFill>
                <a:prstClr val="black"/>
              </a:solidFill>
            </a:endParaRPr>
          </a:p>
        </p:txBody>
      </p:sp>
      <p:pic>
        <p:nvPicPr>
          <p:cNvPr id="10" name="Picture 9">
            <a:extLst>
              <a:ext uri="{FF2B5EF4-FFF2-40B4-BE49-F238E27FC236}">
                <a16:creationId xmlns:a16="http://schemas.microsoft.com/office/drawing/2014/main" id="{77DCBE19-3B44-6945-B113-852AC46AB1A2}"/>
              </a:ext>
            </a:extLst>
          </p:cNvPr>
          <p:cNvPicPr>
            <a:picLocks noChangeAspect="1"/>
          </p:cNvPicPr>
          <p:nvPr/>
        </p:nvPicPr>
        <p:blipFill>
          <a:blip r:embed="rId4"/>
          <a:stretch>
            <a:fillRect/>
          </a:stretch>
        </p:blipFill>
        <p:spPr>
          <a:xfrm>
            <a:off x="542955" y="8002207"/>
            <a:ext cx="3949926" cy="2962444"/>
          </a:xfrm>
          <a:prstGeom prst="rect">
            <a:avLst/>
          </a:prstGeom>
        </p:spPr>
      </p:pic>
      <p:pic>
        <p:nvPicPr>
          <p:cNvPr id="13" name="Picture 12" descr="A graph with red and blue dots&#10;&#10;AI-generated content may be incorrect.">
            <a:extLst>
              <a:ext uri="{FF2B5EF4-FFF2-40B4-BE49-F238E27FC236}">
                <a16:creationId xmlns:a16="http://schemas.microsoft.com/office/drawing/2014/main" id="{B784C0A9-F55A-A871-E485-73784FB3721A}"/>
              </a:ext>
            </a:extLst>
          </p:cNvPr>
          <p:cNvPicPr>
            <a:picLocks noChangeAspect="1"/>
          </p:cNvPicPr>
          <p:nvPr/>
        </p:nvPicPr>
        <p:blipFill>
          <a:blip r:embed="rId5"/>
          <a:stretch>
            <a:fillRect/>
          </a:stretch>
        </p:blipFill>
        <p:spPr>
          <a:xfrm>
            <a:off x="5018072" y="7996877"/>
            <a:ext cx="3977614" cy="2983210"/>
          </a:xfrm>
          <a:prstGeom prst="rect">
            <a:avLst/>
          </a:prstGeom>
        </p:spPr>
      </p:pic>
      <p:pic>
        <p:nvPicPr>
          <p:cNvPr id="19" name="Picture 18" descr="A graph with numbers and dots&#10;&#10;AI-generated content may be incorrect.">
            <a:extLst>
              <a:ext uri="{FF2B5EF4-FFF2-40B4-BE49-F238E27FC236}">
                <a16:creationId xmlns:a16="http://schemas.microsoft.com/office/drawing/2014/main" id="{FAF55D0B-891C-BB49-C76E-B3BE3060D74E}"/>
              </a:ext>
            </a:extLst>
          </p:cNvPr>
          <p:cNvPicPr>
            <a:picLocks noChangeAspect="1"/>
          </p:cNvPicPr>
          <p:nvPr/>
        </p:nvPicPr>
        <p:blipFill>
          <a:blip r:embed="rId6"/>
          <a:stretch>
            <a:fillRect/>
          </a:stretch>
        </p:blipFill>
        <p:spPr>
          <a:xfrm>
            <a:off x="9773400" y="7994859"/>
            <a:ext cx="3949700" cy="2962275"/>
          </a:xfrm>
          <a:prstGeom prst="rect">
            <a:avLst/>
          </a:prstGeom>
        </p:spPr>
      </p:pic>
      <p:pic>
        <p:nvPicPr>
          <p:cNvPr id="11" name="Imagen 10" descr="Gráfico, Gráfico de dispersión, Gráfico de burbujas&#10;&#10;El contenido generado por IA puede ser incorrecto.">
            <a:extLst>
              <a:ext uri="{FF2B5EF4-FFF2-40B4-BE49-F238E27FC236}">
                <a16:creationId xmlns:a16="http://schemas.microsoft.com/office/drawing/2014/main" id="{48DF2DB5-DC01-8F57-5C11-344B2DBBEDAE}"/>
              </a:ext>
            </a:extLst>
          </p:cNvPr>
          <p:cNvPicPr>
            <a:picLocks noChangeAspect="1"/>
          </p:cNvPicPr>
          <p:nvPr/>
        </p:nvPicPr>
        <p:blipFill>
          <a:blip r:embed="rId7"/>
          <a:stretch>
            <a:fillRect/>
          </a:stretch>
        </p:blipFill>
        <p:spPr>
          <a:xfrm>
            <a:off x="9073436" y="11975374"/>
            <a:ext cx="5032772" cy="3738427"/>
          </a:xfrm>
          <a:prstGeom prst="rect">
            <a:avLst/>
          </a:prstGeom>
        </p:spPr>
      </p:pic>
      <p:pic>
        <p:nvPicPr>
          <p:cNvPr id="24" name="Graphic 23">
            <a:extLst>
              <a:ext uri="{FF2B5EF4-FFF2-40B4-BE49-F238E27FC236}">
                <a16:creationId xmlns:a16="http://schemas.microsoft.com/office/drawing/2014/main" id="{CFA31E13-5999-0321-1220-9CA4E088A83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550767" y="1238355"/>
            <a:ext cx="1759115" cy="1759115"/>
          </a:xfrm>
          <a:prstGeom prst="rect">
            <a:avLst/>
          </a:prstGeom>
        </p:spPr>
      </p:pic>
      <p:pic>
        <p:nvPicPr>
          <p:cNvPr id="23" name="Imagen 22" descr="Imagen que contiene Gráfico de barras&#10;&#10;El contenido generado por IA puede ser incorrecto.">
            <a:extLst>
              <a:ext uri="{FF2B5EF4-FFF2-40B4-BE49-F238E27FC236}">
                <a16:creationId xmlns:a16="http://schemas.microsoft.com/office/drawing/2014/main" id="{22D04916-F8B2-48C9-A754-E9FB2342022A}"/>
              </a:ext>
            </a:extLst>
          </p:cNvPr>
          <p:cNvPicPr>
            <a:picLocks noChangeAspect="1"/>
          </p:cNvPicPr>
          <p:nvPr/>
        </p:nvPicPr>
        <p:blipFill>
          <a:blip r:embed="rId10"/>
          <a:stretch>
            <a:fillRect/>
          </a:stretch>
        </p:blipFill>
        <p:spPr>
          <a:xfrm>
            <a:off x="345789" y="12241927"/>
            <a:ext cx="4310081" cy="3116432"/>
          </a:xfrm>
          <a:prstGeom prst="rect">
            <a:avLst/>
          </a:prstGeom>
        </p:spPr>
      </p:pic>
      <p:sp>
        <p:nvSpPr>
          <p:cNvPr id="25" name="CuadroTexto 24">
            <a:extLst>
              <a:ext uri="{FF2B5EF4-FFF2-40B4-BE49-F238E27FC236}">
                <a16:creationId xmlns:a16="http://schemas.microsoft.com/office/drawing/2014/main" id="{540A093C-0764-9B0C-506C-7991D5B2DB4E}"/>
              </a:ext>
            </a:extLst>
          </p:cNvPr>
          <p:cNvSpPr txBox="1"/>
          <p:nvPr/>
        </p:nvSpPr>
        <p:spPr>
          <a:xfrm>
            <a:off x="431107" y="11851677"/>
            <a:ext cx="3176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4D94D8"/>
                </a:solidFill>
              </a:rPr>
              <a:t>A</a:t>
            </a:r>
          </a:p>
        </p:txBody>
      </p:sp>
      <p:pic>
        <p:nvPicPr>
          <p:cNvPr id="20" name="Picture 19" descr="A circular chart with different colored squares&#10;&#10;AI-generated content may be incorrect.">
            <a:extLst>
              <a:ext uri="{FF2B5EF4-FFF2-40B4-BE49-F238E27FC236}">
                <a16:creationId xmlns:a16="http://schemas.microsoft.com/office/drawing/2014/main" id="{C26F4CBA-A263-0ABB-4B92-E2543D2C78B5}"/>
              </a:ext>
            </a:extLst>
          </p:cNvPr>
          <p:cNvPicPr>
            <a:picLocks noChangeAspect="1"/>
          </p:cNvPicPr>
          <p:nvPr/>
        </p:nvPicPr>
        <p:blipFill>
          <a:blip r:embed="rId11"/>
          <a:stretch>
            <a:fillRect/>
          </a:stretch>
        </p:blipFill>
        <p:spPr>
          <a:xfrm>
            <a:off x="4806068" y="11892210"/>
            <a:ext cx="3676691" cy="3676691"/>
          </a:xfrm>
          <a:prstGeom prst="rect">
            <a:avLst/>
          </a:prstGeom>
        </p:spPr>
      </p:pic>
      <p:sp>
        <p:nvSpPr>
          <p:cNvPr id="26" name="CuadroTexto 25">
            <a:extLst>
              <a:ext uri="{FF2B5EF4-FFF2-40B4-BE49-F238E27FC236}">
                <a16:creationId xmlns:a16="http://schemas.microsoft.com/office/drawing/2014/main" id="{854738C4-C6B7-EE57-0589-25ED71C2F825}"/>
              </a:ext>
            </a:extLst>
          </p:cNvPr>
          <p:cNvSpPr txBox="1"/>
          <p:nvPr/>
        </p:nvSpPr>
        <p:spPr>
          <a:xfrm>
            <a:off x="4725840" y="11851676"/>
            <a:ext cx="3176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4D94D8"/>
                </a:solidFill>
              </a:rPr>
              <a:t>B</a:t>
            </a:r>
          </a:p>
        </p:txBody>
      </p:sp>
    </p:spTree>
    <p:extLst>
      <p:ext uri="{BB962C8B-B14F-4D97-AF65-F5344CB8AC3E}">
        <p14:creationId xmlns:p14="http://schemas.microsoft.com/office/powerpoint/2010/main" val="404599993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81FF4A7DCB4E24B8D4436FA943881D6" ma:contentTypeVersion="3" ma:contentTypeDescription="Crear nuevo documento." ma:contentTypeScope="" ma:versionID="f33c003339723d0e6320fda3ad2c1f16">
  <xsd:schema xmlns:xsd="http://www.w3.org/2001/XMLSchema" xmlns:xs="http://www.w3.org/2001/XMLSchema" xmlns:p="http://schemas.microsoft.com/office/2006/metadata/properties" xmlns:ns2="264b6afc-836e-4165-89ca-c2c4817a3e0a" targetNamespace="http://schemas.microsoft.com/office/2006/metadata/properties" ma:root="true" ma:fieldsID="782a4dd7b2f844f96635907b9e14b69c" ns2:_="">
    <xsd:import namespace="264b6afc-836e-4165-89ca-c2c4817a3e0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4b6afc-836e-4165-89ca-c2c4817a3e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DC9FD1-B5F7-4008-95DF-E462E40D69A6}">
  <ds:schemaRefs>
    <ds:schemaRef ds:uri="264b6afc-836e-4165-89ca-c2c4817a3e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D48B5577-5CCE-4E9D-BDFA-952900719EE2}">
  <ds:schemaRefs>
    <ds:schemaRef ds:uri="http://schemas.microsoft.com/office/2006/documentManagement/types"/>
    <ds:schemaRef ds:uri="http://schemas.microsoft.com/office/2006/metadata/properties"/>
    <ds:schemaRef ds:uri="http://schemas.openxmlformats.org/package/2006/metadata/core-properties"/>
    <ds:schemaRef ds:uri="http://purl.org/dc/terms/"/>
    <ds:schemaRef ds:uri="http://schemas.microsoft.com/office/infopath/2007/PartnerControls"/>
    <ds:schemaRef ds:uri="http://purl.org/dc/dcmitype/"/>
    <ds:schemaRef ds:uri="http://www.w3.org/XML/1998/namespace"/>
    <ds:schemaRef ds:uri="264b6afc-836e-4165-89ca-c2c4817a3e0a"/>
    <ds:schemaRef ds:uri="http://purl.org/dc/elements/1.1/"/>
  </ds:schemaRefs>
</ds:datastoreItem>
</file>

<file path=customXml/itemProps3.xml><?xml version="1.0" encoding="utf-8"?>
<ds:datastoreItem xmlns:ds="http://schemas.openxmlformats.org/officeDocument/2006/customXml" ds:itemID="{53E95016-93A9-4903-BA02-7A05B5939C79}">
  <ds:schemaRefs>
    <ds:schemaRef ds:uri="http://schemas.microsoft.com/sharepoint/v3/contenttype/forms"/>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675</Words>
  <Application>Microsoft Office PowerPoint</Application>
  <PresentationFormat>Custom</PresentationFormat>
  <Paragraphs>19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Tema de Office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de la O Pascual</dc:creator>
  <cp:lastModifiedBy>Viktor Porvaznik</cp:lastModifiedBy>
  <cp:revision>2</cp:revision>
  <dcterms:created xsi:type="dcterms:W3CDTF">2025-04-21T10:03:24Z</dcterms:created>
  <dcterms:modified xsi:type="dcterms:W3CDTF">2025-12-20T18:59:13Z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0x010100781FF4A7DCB4E24B8D4436FA943881D6</vt:lpwstr>
  </property>
  <property fmtid="{D5CDD505-2E9C-101B-9397-08002B2CF9AE}" pid="3" name="MediaServiceImageTags">
    <vt:lpwstr/>
  </property>
</Properties>
</file>